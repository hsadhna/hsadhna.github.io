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tCO2e</c:v>
                </c:pt>
              </c:strCache>
            </c:strRef>
          </c:tx>
          <c:spPr>
            <a:solidFill>
              <a:srgbClr val="1F4E3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A22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Polyester yarn</c:v>
                  </c:pt>
                  <c:pt idx="1">
                    <c:v>Polyester fabric</c:v>
                  </c:pt>
                  <c:pt idx="2">
                    <c:v>Cotton yarn</c:v>
                  </c:pt>
                  <c:pt idx="3">
                    <c:v>Upstream transport</c:v>
                  </c:pt>
                  <c:pt idx="4">
                    <c:v>Downstream transport</c:v>
                  </c:pt>
                  <c:pt idx="5">
                    <c:v>Employee commuting</c:v>
                  </c:pt>
                  <c:pt idx="6">
                    <c:v>Business travel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2856</c:v>
                </c:pt>
                <c:pt idx="1">
                  <c:v>2570</c:v>
                </c:pt>
                <c:pt idx="2">
                  <c:v>2088</c:v>
                </c:pt>
                <c:pt idx="3">
                  <c:v>166</c:v>
                </c:pt>
                <c:pt idx="4">
                  <c:v>69</c:v>
                </c:pt>
                <c:pt idx="5">
                  <c:v>19</c:v>
                </c:pt>
                <c:pt idx="6">
                  <c:v>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B2A22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56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majorGridlines>
          <c:spPr>
            <a:ln w="6350" cap="flat">
              <a:solidFill>
                <a:srgbClr val="E3E8E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A656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Cotton</c:v>
                </c:pt>
              </c:strCache>
            </c:strRef>
          </c:tx>
          <c:spPr>
            <a:solidFill>
              <a:srgbClr val="7FA65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A22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India</c:v>
                  </c:pt>
                  <c:pt idx="1">
                    <c:v>China</c:v>
                  </c:pt>
                  <c:pt idx="2">
                    <c:v>US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1073</c:v>
                </c:pt>
                <c:pt idx="1">
                  <c:v>717</c:v>
                </c:pt>
                <c:pt idx="2">
                  <c:v>298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Polyester</c:v>
                </c:pt>
              </c:strCache>
            </c:strRef>
          </c:tx>
          <c:spPr>
            <a:solidFill>
              <a:srgbClr val="5B7F9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A22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India</c:v>
                  </c:pt>
                  <c:pt idx="1">
                    <c:v>China</c:v>
                  </c:pt>
                  <c:pt idx="2">
                    <c:v>US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1428</c:v>
                </c:pt>
                <c:pt idx="1">
                  <c:v>1000</c:v>
                </c:pt>
                <c:pt idx="2">
                  <c:v>428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B2A22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56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majorGridlines>
          <c:spPr>
            <a:ln w="6350" cap="flat">
              <a:solidFill>
                <a:srgbClr val="E3E8E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A656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4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case study · fictionalized data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48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F4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48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828800"/>
            <a:ext cx="10698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GHG Inventory and Net-Zero Roadmap for an SME Textile Manufacturer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7033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CFE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case study  ·  Harshita Sadhna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93776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FE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a project for a Canadian manufacturer through an SME climate clinic. The company is renamed "Northline Knitwear" and all figures are fictional; methods and assumptions reflect the original work.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F4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brief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645920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EEF3EC"/>
          </a:solidFill>
          <a:ln w="12700">
            <a:solidFill>
              <a:srgbClr val="EEF3E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87452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4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Client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2926080" y="187452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Mid-sized knitting mill, ~35 staff, one site in boundary. Sources yarn from India, China and the US and ships to Canada and the US.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3108960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EEF3EC"/>
          </a:solidFill>
          <a:ln w="12700">
            <a:solidFill>
              <a:srgbClr val="EEF3E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333756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4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Ask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2926080" y="333756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first credible GHG inventory and a practical path to net zero the owners could act on.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4572000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EEF3EC"/>
          </a:solidFill>
          <a:ln w="12700">
            <a:solidFill>
              <a:srgbClr val="EEF3E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480060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4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 role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2926080" y="480060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Two-person team. I built the calculation model, defined boundaries and assumptions, and drafted the reduction roadmap.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48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F4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Value chain and what we measured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5A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control approach under the GHG Protocol Corporate Standard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2468880" cy="1554480"/>
          </a:xfrm>
          <a:prstGeom prst="roundRect">
            <a:avLst>
              <a:gd name="adj" fmla="val 4706"/>
            </a:avLst>
          </a:prstGeom>
          <a:solidFill>
            <a:srgbClr val="C9772B"/>
          </a:solidFill>
          <a:ln w="12700">
            <a:solidFill>
              <a:srgbClr val="C9772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205740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Yarn and fabric production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9718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3 · Cat 1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090672" y="2560320"/>
            <a:ext cx="201168" cy="274320"/>
          </a:xfrm>
          <a:prstGeom prst="rtTriangle">
            <a:avLst/>
          </a:prstGeom>
          <a:solidFill>
            <a:srgbClr val="A3B8A8"/>
          </a:solidFill>
          <a:ln w="12700">
            <a:solidFill>
              <a:srgbClr val="A3B8A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383280" y="1920240"/>
            <a:ext cx="2468880" cy="1554480"/>
          </a:xfrm>
          <a:prstGeom prst="roundRect">
            <a:avLst>
              <a:gd name="adj" fmla="val 4706"/>
            </a:avLst>
          </a:prstGeom>
          <a:solidFill>
            <a:srgbClr val="5B7F95"/>
          </a:solidFill>
          <a:ln w="12700">
            <a:solidFill>
              <a:srgbClr val="5B7F9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566160" y="205740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Sea, rail and truck to facility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3566160" y="29718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3 · Cat 4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925312" y="2560320"/>
            <a:ext cx="201168" cy="274320"/>
          </a:xfrm>
          <a:prstGeom prst="rtTriangle">
            <a:avLst/>
          </a:prstGeom>
          <a:solidFill>
            <a:srgbClr val="A3B8A8"/>
          </a:solidFill>
          <a:ln w="12700">
            <a:solidFill>
              <a:srgbClr val="A3B8A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17920" y="1920240"/>
            <a:ext cx="2468880" cy="1554480"/>
          </a:xfrm>
          <a:prstGeom prst="roundRect">
            <a:avLst>
              <a:gd name="adj" fmla="val 4706"/>
            </a:avLst>
          </a:prstGeom>
          <a:solidFill>
            <a:srgbClr val="1F4E3D"/>
          </a:solidFill>
          <a:ln w="12700">
            <a:solidFill>
              <a:srgbClr val="1F4E3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0" y="205740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Knitting facility: gas, electricity, vehicles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0" y="29718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Scopes 1 and 2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759952" y="2560320"/>
            <a:ext cx="201168" cy="274320"/>
          </a:xfrm>
          <a:prstGeom prst="rtTriangle">
            <a:avLst/>
          </a:prstGeom>
          <a:solidFill>
            <a:srgbClr val="A3B8A8"/>
          </a:solidFill>
          <a:ln w="12700">
            <a:solidFill>
              <a:srgbClr val="A3B8A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052560" y="1920240"/>
            <a:ext cx="2468880" cy="1554480"/>
          </a:xfrm>
          <a:prstGeom prst="roundRect">
            <a:avLst>
              <a:gd name="adj" fmla="val 4706"/>
            </a:avLst>
          </a:prstGeom>
          <a:solidFill>
            <a:srgbClr val="5B7F95"/>
          </a:solidFill>
          <a:ln w="12700">
            <a:solidFill>
              <a:srgbClr val="5B7F9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235440" y="205740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Truck to customers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9235440" y="29718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3 · Cat 9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3931920"/>
            <a:ext cx="5394960" cy="2194560"/>
          </a:xfrm>
          <a:prstGeom prst="roundRect">
            <a:avLst>
              <a:gd name="adj" fmla="val 3333"/>
            </a:avLst>
          </a:prstGeom>
          <a:solidFill>
            <a:srgbClr val="EEF3EC"/>
          </a:solidFill>
          <a:ln w="12700">
            <a:solidFill>
              <a:srgbClr val="EEF3E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22960" y="41148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4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Also included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822960" y="4572000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commuting (Cat 7), by mode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travel flights (Cat 6)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217920" y="3931920"/>
            <a:ext cx="5394960" cy="2194560"/>
          </a:xfrm>
          <a:prstGeom prst="roundRect">
            <a:avLst>
              <a:gd name="adj" fmla="val 3333"/>
            </a:avLst>
          </a:prstGeom>
          <a:solidFill>
            <a:srgbClr val="F7EFE7"/>
          </a:solidFill>
          <a:ln w="12700">
            <a:solidFill>
              <a:srgbClr val="F7EFE7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92240" y="41148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C97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 of boundary for now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6492240" y="4572000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Dyeing and finishing site (separate operator)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Waste, product use and end-of-life (Cats 5, 11, 12)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48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F4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spend-based to activity-based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5A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pass used dollars spent; the final model uses physical quantities wherever data allowed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94960" cy="4206240"/>
          </a:xfrm>
          <a:prstGeom prst="roundRect">
            <a:avLst>
              <a:gd name="adj" fmla="val 1739"/>
            </a:avLst>
          </a:prstGeom>
          <a:solidFill>
            <a:srgbClr val="F7EFE7"/>
          </a:solidFill>
          <a:ln w="12700">
            <a:solidFill>
              <a:srgbClr val="F7EFE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20116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C97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First pass: spend-based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697480"/>
            <a:ext cx="48463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 spent on yarn and freight x industry-average factors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split by fibre or sourcing country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Commuting and travel left out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run, but hides where emissions come from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217920" y="1783080"/>
            <a:ext cx="5394960" cy="4206240"/>
          </a:xfrm>
          <a:prstGeom prst="roundRect">
            <a:avLst>
              <a:gd name="adj" fmla="val 1739"/>
            </a:avLst>
          </a:prstGeom>
          <a:solidFill>
            <a:srgbClr val="EEF3EC"/>
          </a:solidFill>
          <a:ln w="12700">
            <a:solidFill>
              <a:srgbClr val="EEF3E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92240" y="20116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4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model: activity-based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6492240" y="2697480"/>
            <a:ext cx="48463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kg of yarn by fibre and country x LCA factors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Freight in tonne-km by sea, rail and truck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Commuting and business travel added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Several times higher, and shows the hotspots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48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F4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each number is built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691640" y="1463040"/>
            <a:ext cx="1188720" cy="1188720"/>
          </a:xfrm>
          <a:prstGeom prst="ellipse">
            <a:avLst/>
          </a:prstGeom>
          <a:solidFill>
            <a:srgbClr val="5B7F9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611880" y="169164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5A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8346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4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Activity data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33756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A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kg, kWh, m³, tonne-km, passenger-km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577840" y="1463040"/>
            <a:ext cx="1188720" cy="1188720"/>
          </a:xfrm>
          <a:prstGeom prst="ellipse">
            <a:avLst/>
          </a:prstGeom>
          <a:solidFill>
            <a:srgbClr val="7FA65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8080" y="169164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5A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4434840" y="28346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4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Emission factor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4434840" y="333756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A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tCO₂e per unit, from ECCC, US EPA and LCA studies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9464040" y="1463040"/>
            <a:ext cx="1188720" cy="1188720"/>
          </a:xfrm>
          <a:prstGeom prst="ellipse">
            <a:avLst/>
          </a:prstGeom>
          <a:solidFill>
            <a:srgbClr val="1F4E3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1384280" y="169164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endParaRPr lang="en-US" sz="4000" dirty="0"/>
          </a:p>
        </p:txBody>
      </p:sp>
      <p:sp>
        <p:nvSpPr>
          <p:cNvPr id="13" name="Text 11"/>
          <p:cNvSpPr txBox="1"/>
          <p:nvPr/>
        </p:nvSpPr>
        <p:spPr>
          <a:xfrm>
            <a:off x="8321040" y="28346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4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Emissions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8321040" y="333756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A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tCO₂e by scope and category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4389120"/>
            <a:ext cx="11064240" cy="1645920"/>
          </a:xfrm>
          <a:prstGeom prst="roundRect">
            <a:avLst>
              <a:gd name="adj" fmla="val 4444"/>
            </a:avLst>
          </a:prstGeom>
          <a:solidFill>
            <a:srgbClr val="EEF3EC"/>
          </a:solidFill>
          <a:ln w="12700">
            <a:solidFill>
              <a:srgbClr val="EEF3E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2960" y="45720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4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sources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49834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gas and electricity bills · yarn and fabric purchase volumes · freight routes and ports · employee commute survey · flight records. Where data was missing, each gap was filled with a stated assumption so the client could replace it later.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48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F4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Results: Scope 3 is almost the whole footprint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2560320" cy="1828800"/>
          </a:xfrm>
          <a:prstGeom prst="roundRect">
            <a:avLst>
              <a:gd name="adj" fmla="val 4000"/>
            </a:avLst>
          </a:prstGeom>
          <a:solidFill>
            <a:srgbClr val="EEF3EC"/>
          </a:solidFill>
          <a:ln w="12700">
            <a:solidFill>
              <a:srgbClr val="EEF3E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73736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F4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7,870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6974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A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tCO₂e total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383280" y="1554480"/>
            <a:ext cx="2560320" cy="1828800"/>
          </a:xfrm>
          <a:prstGeom prst="roundRect">
            <a:avLst>
              <a:gd name="adj" fmla="val 4000"/>
            </a:avLst>
          </a:prstGeom>
          <a:solidFill>
            <a:srgbClr val="EEF3EC"/>
          </a:solidFill>
          <a:ln w="12700">
            <a:solidFill>
              <a:srgbClr val="EEF3E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383280" y="173736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5B7F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77</a:t>
            </a: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3383280" y="26974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A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1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217920" y="1554480"/>
            <a:ext cx="2560320" cy="1828800"/>
          </a:xfrm>
          <a:prstGeom prst="roundRect">
            <a:avLst>
              <a:gd name="adj" fmla="val 4000"/>
            </a:avLst>
          </a:prstGeom>
          <a:solidFill>
            <a:srgbClr val="EEF3EC"/>
          </a:solidFill>
          <a:ln w="12700">
            <a:solidFill>
              <a:srgbClr val="EEF3E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17920" y="173736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5B7F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4400" dirty="0"/>
          </a:p>
        </p:txBody>
      </p:sp>
      <p:sp>
        <p:nvSpPr>
          <p:cNvPr id="11" name="Text 9"/>
          <p:cNvSpPr txBox="1"/>
          <p:nvPr/>
        </p:nvSpPr>
        <p:spPr>
          <a:xfrm>
            <a:off x="6217920" y="26974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A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2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9052560" y="1554480"/>
            <a:ext cx="2560320" cy="1828800"/>
          </a:xfrm>
          <a:prstGeom prst="roundRect">
            <a:avLst>
              <a:gd name="adj" fmla="val 4000"/>
            </a:avLst>
          </a:prstGeom>
          <a:solidFill>
            <a:srgbClr val="EEF3EC"/>
          </a:solidFill>
          <a:ln w="12700">
            <a:solidFill>
              <a:srgbClr val="EEF3E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052560" y="173736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C97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98.8%</a:t>
            </a:r>
            <a:endParaRPr lang="en-US" sz="4400" dirty="0"/>
          </a:p>
        </p:txBody>
      </p:sp>
      <p:sp>
        <p:nvSpPr>
          <p:cNvPr id="14" name="Text 12"/>
          <p:cNvSpPr txBox="1"/>
          <p:nvPr/>
        </p:nvSpPr>
        <p:spPr>
          <a:xfrm>
            <a:off x="9052560" y="26974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A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Scope 3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3840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4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means for the client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343400"/>
            <a:ext cx="10972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Owned operations are small; Ontario’s low-carbon grid keeps Scope 2 near zero.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reductions depend on what yarn is bought and from where, not on factory energy.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data is the single biggest lever for accuracy and for cutting emissions.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48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F4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Purchased materials dominate Scope 3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5A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3 by category, tCO₂e</a:t>
            </a:r>
            <a:endParaRPr lang="en-US" sz="1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45920"/>
          <a:ext cx="694944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863840" y="1737360"/>
            <a:ext cx="3749040" cy="4297680"/>
          </a:xfrm>
          <a:prstGeom prst="roundRect">
            <a:avLst>
              <a:gd name="adj" fmla="val 1951"/>
            </a:avLst>
          </a:prstGeom>
          <a:solidFill>
            <a:srgbClr val="EEF3EC"/>
          </a:solidFill>
          <a:ln w="12700">
            <a:solidFill>
              <a:srgbClr val="EEF3EC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138160" y="19202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4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Takeaways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8138160" y="2423160"/>
            <a:ext cx="32918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Yarn and fabric are 95% of Scope 3.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Polyester carries nearly twice the factor of cotton per kg.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Freight matters less than expected once measured in tonne-km.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48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F4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yarn comes from changes its footprint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5A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Yarn emissions by sourcing country, tCO₂e</a:t>
            </a:r>
            <a:endParaRPr lang="en-US" sz="1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45920"/>
          <a:ext cx="585216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766560" y="1737360"/>
            <a:ext cx="4846320" cy="1280160"/>
          </a:xfrm>
          <a:prstGeom prst="roundRect">
            <a:avLst>
              <a:gd name="adj" fmla="val 5714"/>
            </a:avLst>
          </a:prstGeom>
          <a:solidFill>
            <a:srgbClr val="EEF3EC"/>
          </a:solidFill>
          <a:ln w="12700">
            <a:solidFill>
              <a:srgbClr val="EEF3EC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995160" y="187452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97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India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6995160" y="224028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cotton yields mean more land, water and fertilizer per kg. Priority for supplier engagement.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766560" y="3200400"/>
            <a:ext cx="4846320" cy="1280160"/>
          </a:xfrm>
          <a:prstGeom prst="roundRect">
            <a:avLst>
              <a:gd name="adj" fmla="val 5714"/>
            </a:avLst>
          </a:prstGeom>
          <a:solidFill>
            <a:srgbClr val="EEF3EC"/>
          </a:solidFill>
          <a:ln w="12700">
            <a:solidFill>
              <a:srgbClr val="EEF3EC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995160" y="333756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5B7F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China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6995160" y="370332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yields but heavy irrigation and fertilizer. Work with suppliers on inputs.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766560" y="4663440"/>
            <a:ext cx="4846320" cy="1280160"/>
          </a:xfrm>
          <a:prstGeom prst="roundRect">
            <a:avLst>
              <a:gd name="adj" fmla="val 5714"/>
            </a:avLst>
          </a:prstGeom>
          <a:solidFill>
            <a:srgbClr val="EEF3EC"/>
          </a:solidFill>
          <a:ln w="12700">
            <a:solidFill>
              <a:srgbClr val="EEF3E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995160" y="480060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4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</a:t>
            </a:r>
            <a:endParaRPr lang="en-US" sz="1700" dirty="0"/>
          </a:p>
        </p:txBody>
      </p:sp>
      <p:sp>
        <p:nvSpPr>
          <p:cNvPr id="13" name="Text 10"/>
          <p:cNvSpPr txBox="1"/>
          <p:nvPr/>
        </p:nvSpPr>
        <p:spPr>
          <a:xfrm>
            <a:off x="6995160" y="516636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Mechanized, largely rain-fed farming. Lowest factor; shift share here where feasible.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48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F4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Assumptions made explicit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5A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data gap was documented so the estimate can be audited and improved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474720" cy="1965960"/>
          </a:xfrm>
          <a:prstGeom prst="roundRect">
            <a:avLst>
              <a:gd name="adj" fmla="val 3721"/>
            </a:avLst>
          </a:prstGeom>
          <a:solidFill>
            <a:srgbClr val="EEF3EC"/>
          </a:solidFill>
          <a:ln w="12700">
            <a:solidFill>
              <a:srgbClr val="EEF3E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9659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4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Sourcing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423160"/>
            <a:ext cx="3017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Volumes split by country and fibre from purchase totals; poly-cotton blends split into fibre shares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297680" y="1783080"/>
            <a:ext cx="3474720" cy="1965960"/>
          </a:xfrm>
          <a:prstGeom prst="roundRect">
            <a:avLst>
              <a:gd name="adj" fmla="val 3721"/>
            </a:avLst>
          </a:prstGeom>
          <a:solidFill>
            <a:srgbClr val="EEF3EC"/>
          </a:solidFill>
          <a:ln w="12700">
            <a:solidFill>
              <a:srgbClr val="EEF3E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26280" y="19659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4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Ports and routes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4526280" y="2423160"/>
            <a:ext cx="3017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Nearest major export hub per country; sea to West Coast, then rail and truck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046720" y="1783080"/>
            <a:ext cx="3474720" cy="1965960"/>
          </a:xfrm>
          <a:prstGeom prst="roundRect">
            <a:avLst>
              <a:gd name="adj" fmla="val 3721"/>
            </a:avLst>
          </a:prstGeom>
          <a:solidFill>
            <a:srgbClr val="EEF3EC"/>
          </a:solidFill>
          <a:ln w="12700">
            <a:solidFill>
              <a:srgbClr val="EEF3E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75320" y="19659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4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Freight loads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8275320" y="2423160"/>
            <a:ext cx="3017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15,000 kg per truck to estimate trips; heavy-duty truck factor where fuel data was missing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3977640"/>
            <a:ext cx="3474720" cy="1965960"/>
          </a:xfrm>
          <a:prstGeom prst="roundRect">
            <a:avLst>
              <a:gd name="adj" fmla="val 3721"/>
            </a:avLst>
          </a:prstGeom>
          <a:solidFill>
            <a:srgbClr val="EEF3EC"/>
          </a:solidFill>
          <a:ln w="12700">
            <a:solidFill>
              <a:srgbClr val="EEF3E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7240" y="41605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4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Customers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777240" y="4617720"/>
            <a:ext cx="3017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addresses unknown, so regional average distances applied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297680" y="3977640"/>
            <a:ext cx="3474720" cy="1965960"/>
          </a:xfrm>
          <a:prstGeom prst="roundRect">
            <a:avLst>
              <a:gd name="adj" fmla="val 3721"/>
            </a:avLst>
          </a:prstGeom>
          <a:solidFill>
            <a:srgbClr val="EEF3EC"/>
          </a:solidFill>
          <a:ln w="12700">
            <a:solidFill>
              <a:srgbClr val="EEF3E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26280" y="41605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4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Fleet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4526280" y="4617720"/>
            <a:ext cx="3017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fuel logs, so a share of freight spend used as a spend-based proxy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046720" y="3977640"/>
            <a:ext cx="3474720" cy="1965960"/>
          </a:xfrm>
          <a:prstGeom prst="roundRect">
            <a:avLst>
              <a:gd name="adj" fmla="val 3721"/>
            </a:avLst>
          </a:prstGeom>
          <a:solidFill>
            <a:srgbClr val="EEF3EC"/>
          </a:solidFill>
          <a:ln w="12700">
            <a:solidFill>
              <a:srgbClr val="EEF3E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275320" y="41605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4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Travel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8275320" y="4617720"/>
            <a:ext cx="3017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flights treated as medium-haul, one passenger each; hotels excluded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48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F4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client should collect next year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548640" cy="548640"/>
          </a:xfrm>
          <a:prstGeom prst="ellipse">
            <a:avLst/>
          </a:prstGeom>
          <a:solidFill>
            <a:srgbClr val="7FA650"/>
          </a:solidFill>
          <a:ln w="12700">
            <a:solidFill>
              <a:srgbClr val="7FA65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627632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371600" y="16002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4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Purchasing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4206240" y="1618488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kg of yarn per country and fibre; recycled content share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514600"/>
            <a:ext cx="548640" cy="548640"/>
          </a:xfrm>
          <a:prstGeom prst="ellipse">
            <a:avLst/>
          </a:prstGeom>
          <a:solidFill>
            <a:srgbClr val="7FA650"/>
          </a:solidFill>
          <a:ln w="12700">
            <a:solidFill>
              <a:srgbClr val="7FA65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587752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25603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4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Inbound freight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4206240" y="2578608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of origin, shipments per route, carrier fuel or km reports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3474720"/>
            <a:ext cx="548640" cy="548640"/>
          </a:xfrm>
          <a:prstGeom prst="ellipse">
            <a:avLst/>
          </a:prstGeom>
          <a:solidFill>
            <a:srgbClr val="7FA650"/>
          </a:solidFill>
          <a:ln w="12700">
            <a:solidFill>
              <a:srgbClr val="7FA65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3547872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371600" y="35204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4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Outbound freight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4206240" y="3538728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city, shipments per customer, weight per trip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8640" y="4434840"/>
            <a:ext cx="548640" cy="548640"/>
          </a:xfrm>
          <a:prstGeom prst="ellipse">
            <a:avLst/>
          </a:prstGeom>
          <a:solidFill>
            <a:srgbClr val="7FA650"/>
          </a:solidFill>
          <a:ln w="12700">
            <a:solidFill>
              <a:srgbClr val="7FA65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4507992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371600" y="44805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4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Travel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4206240" y="4498848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Departure and arrival airports, passengers per trip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48640" y="5394960"/>
            <a:ext cx="548640" cy="548640"/>
          </a:xfrm>
          <a:prstGeom prst="ellipse">
            <a:avLst/>
          </a:prstGeom>
          <a:solidFill>
            <a:srgbClr val="7FA650"/>
          </a:solidFill>
          <a:ln w="12700">
            <a:solidFill>
              <a:srgbClr val="7FA65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" y="5468112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371600" y="54406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4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New categories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4206240" y="5458968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 by type, dyeing-site energy use, product disposal split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48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F4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Reduction levers, ranked by impact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3474720" cy="4572000"/>
          </a:xfrm>
          <a:prstGeom prst="roundRect">
            <a:avLst>
              <a:gd name="adj" fmla="val 2105"/>
            </a:avLst>
          </a:prstGeom>
          <a:solidFill>
            <a:srgbClr val="EEF3EC"/>
          </a:solidFill>
          <a:ln w="12700">
            <a:solidFill>
              <a:srgbClr val="EEF3E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916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C97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Materials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1945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A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impact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743200"/>
            <a:ext cx="29260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polyester to recycled PET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low-carbon cotton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 top suppliers on energy and fertilizer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297680" y="1463040"/>
            <a:ext cx="3474720" cy="4572000"/>
          </a:xfrm>
          <a:prstGeom prst="roundRect">
            <a:avLst>
              <a:gd name="adj" fmla="val 2105"/>
            </a:avLst>
          </a:prstGeom>
          <a:solidFill>
            <a:srgbClr val="EEF3EC"/>
          </a:solidFill>
          <a:ln w="12700">
            <a:solidFill>
              <a:srgbClr val="EEF3E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0" y="16916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5B7F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Logistics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4572000" y="21945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A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572000" y="2743200"/>
            <a:ext cx="29260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 shipments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carriers with low-emission fleets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Nearshore where feasible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046720" y="1463040"/>
            <a:ext cx="3474720" cy="4572000"/>
          </a:xfrm>
          <a:prstGeom prst="roundRect">
            <a:avLst>
              <a:gd name="adj" fmla="val 2105"/>
            </a:avLst>
          </a:prstGeom>
          <a:solidFill>
            <a:srgbClr val="EEF3EC"/>
          </a:solidFill>
          <a:ln w="12700">
            <a:solidFill>
              <a:srgbClr val="EEF3E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21040" y="16916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4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Operations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8321040" y="21945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A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Lower, but direct control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8321040" y="2743200"/>
            <a:ext cx="29260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 pumps as gas equipment retires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 forklifts and vehicles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management and LED retrofits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48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F4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phased path to net zero by 2050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22960" y="2148840"/>
            <a:ext cx="10515600" cy="0"/>
          </a:xfrm>
          <a:prstGeom prst="line">
            <a:avLst/>
          </a:prstGeom>
          <a:noFill/>
          <a:ln w="38100">
            <a:solidFill>
              <a:srgbClr val="D5DDD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00200" y="1920240"/>
            <a:ext cx="457200" cy="457200"/>
          </a:xfrm>
          <a:prstGeom prst="ellipse">
            <a:avLst/>
          </a:prstGeom>
          <a:solidFill>
            <a:srgbClr val="1F4E3D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2801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4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2025–28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2651760"/>
            <a:ext cx="2560320" cy="3383280"/>
          </a:xfrm>
          <a:prstGeom prst="roundRect">
            <a:avLst>
              <a:gd name="adj" fmla="val 2857"/>
            </a:avLst>
          </a:prstGeom>
          <a:solidFill>
            <a:srgbClr val="EEF3EC"/>
          </a:solidFill>
          <a:ln w="12700">
            <a:solidFill>
              <a:srgbClr val="EEF3E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27889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C97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~10–15%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3337560"/>
            <a:ext cx="21945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real fuel use; energy audit and LEDs; renewable electricity certificates; audit top 10 suppliers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434840" y="1920240"/>
            <a:ext cx="457200" cy="457200"/>
          </a:xfrm>
          <a:prstGeom prst="ellipse">
            <a:avLst/>
          </a:prstGeom>
          <a:solidFill>
            <a:srgbClr val="1F4E3D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383280" y="12801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4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2029–33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383280" y="2651760"/>
            <a:ext cx="2560320" cy="3383280"/>
          </a:xfrm>
          <a:prstGeom prst="roundRect">
            <a:avLst>
              <a:gd name="adj" fmla="val 2857"/>
            </a:avLst>
          </a:prstGeom>
          <a:solidFill>
            <a:srgbClr val="EEF3EC"/>
          </a:solidFill>
          <a:ln w="12700">
            <a:solidFill>
              <a:srgbClr val="EEF3E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566160" y="27889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C97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~30–35%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3566160" y="3337560"/>
            <a:ext cx="21945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 pumps at end of life; begin EV fleet; 30–50% recycled polyester; consolidated freight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269480" y="1920240"/>
            <a:ext cx="457200" cy="457200"/>
          </a:xfrm>
          <a:prstGeom prst="ellipse">
            <a:avLst/>
          </a:prstGeom>
          <a:solidFill>
            <a:srgbClr val="1F4E3D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17920" y="12801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4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2034–42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217920" y="2651760"/>
            <a:ext cx="2560320" cy="3383280"/>
          </a:xfrm>
          <a:prstGeom prst="roundRect">
            <a:avLst>
              <a:gd name="adj" fmla="val 2857"/>
            </a:avLst>
          </a:prstGeom>
          <a:solidFill>
            <a:srgbClr val="EEF3EC"/>
          </a:solidFill>
          <a:ln w="12700">
            <a:solidFill>
              <a:srgbClr val="EEF3E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0" y="27889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C97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~60–70%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0" y="3337560"/>
            <a:ext cx="21945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heat pump rollout; 70%+ low-carbon yarn; nearshore key sourcing; virtual-first travel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10104120" y="1920240"/>
            <a:ext cx="457200" cy="457200"/>
          </a:xfrm>
          <a:prstGeom prst="ellipse">
            <a:avLst/>
          </a:prstGeom>
          <a:solidFill>
            <a:srgbClr val="7FA65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052560" y="12801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4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2043–50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9052560" y="2651760"/>
            <a:ext cx="2560320" cy="3383280"/>
          </a:xfrm>
          <a:prstGeom prst="roundRect">
            <a:avLst>
              <a:gd name="adj" fmla="val 2857"/>
            </a:avLst>
          </a:prstGeom>
          <a:solidFill>
            <a:srgbClr val="EEF3EC"/>
          </a:solidFill>
          <a:ln w="12700">
            <a:solidFill>
              <a:srgbClr val="EEF3E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235440" y="27889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7FA6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 zero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9235440" y="3337560"/>
            <a:ext cx="21945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electric site on renewables; decarbonized logistics partners; remove residual 5–10% with verified removals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48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828800"/>
            <a:ext cx="10698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project shows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749040"/>
            <a:ext cx="10515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GHG Protocol boundary setting and Scope 1, 2 and 3 accounting for an SME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incomplete client data into a documented, auditable estimate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Translating results into a roadmap a small business can act on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58521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FE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name and all figures are fictional. Original client data is confidential.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orest Ledger">
  <a:themeElements>
    <a:clrScheme name="Forest Ledger">
      <a:dk1>
        <a:srgbClr val="1B2A22"/>
      </a:dk1>
      <a:lt1>
        <a:srgbClr val="FFFFFF"/>
      </a:lt1>
      <a:dk2>
        <a:srgbClr val="1F4E3D"/>
      </a:dk2>
      <a:lt2>
        <a:srgbClr val="EEF3EC"/>
      </a:lt2>
      <a:accent1>
        <a:srgbClr val="1F4E3D"/>
      </a:accent1>
      <a:accent2>
        <a:srgbClr val="7FA650"/>
      </a:accent2>
      <a:accent3>
        <a:srgbClr val="C9772B"/>
      </a:accent3>
      <a:accent4>
        <a:srgbClr val="5B7F95"/>
      </a:accent4>
      <a:accent5>
        <a:srgbClr val="A3B8A8"/>
      </a:accent5>
      <a:accent6>
        <a:srgbClr val="D9A441"/>
      </a:accent6>
      <a:hlink>
        <a:srgbClr val="1F4E3D"/>
      </a:hlink>
      <a:folHlink>
        <a:srgbClr val="5B7F95"/>
      </a:folHlink>
    </a:clrScheme>
    <a:fontScheme name="Forest Ledger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SME GHG Inventory and Net-Zero Roadmap (Portfolio Version)</dc:title>
  <dc:subject>PptxGenJS Presentation</dc:subject>
  <dc:creator>Harshita Sadhna</dc:creator>
  <cp:lastModifiedBy>Harshita Sadhna</cp:lastModifiedBy>
  <cp:revision>1</cp:revision>
  <dcterms:created xsi:type="dcterms:W3CDTF">2026-10-06T06:28:24Z</dcterms:created>
  <dcterms:modified xsi:type="dcterms:W3CDTF">2026-10-06T06:28:24Z</dcterms:modified>
</cp:coreProperties>
</file>